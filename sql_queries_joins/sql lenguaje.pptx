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ooper Hewitt Bold" charset="1" panose="00000000000000000000"/>
      <p:regular r:id="rId12"/>
    </p:embeddedFont>
    <p:embeddedFont>
      <p:font typeface="Cooper Hewitt" charset="1" panose="00000000000000000000"/>
      <p:regular r:id="rId13"/>
    </p:embeddedFon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DM Sans Italic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9022144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35841" y="3335983"/>
            <a:ext cx="7894473" cy="370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05"/>
              </a:lnSpc>
            </a:pPr>
            <a:r>
              <a:rPr lang="en-US" b="true" sz="18503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08671" y="2319853"/>
            <a:ext cx="6948813" cy="229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6"/>
              </a:lnSpc>
            </a:pPr>
            <a:r>
              <a:rPr lang="en-US" sz="11497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LENGUAJE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9022144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0109" y="148707"/>
            <a:ext cx="8973891" cy="9951282"/>
            <a:chOff x="0" y="0"/>
            <a:chExt cx="2363494" cy="26209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3494" cy="2620914"/>
            </a:xfrm>
            <a:custGeom>
              <a:avLst/>
              <a:gdLst/>
              <a:ahLst/>
              <a:cxnLst/>
              <a:rect r="r" b="b" t="t" l="l"/>
              <a:pathLst>
                <a:path h="2620914" w="2363494">
                  <a:moveTo>
                    <a:pt x="0" y="0"/>
                  </a:moveTo>
                  <a:lnTo>
                    <a:pt x="2363494" y="0"/>
                  </a:lnTo>
                  <a:lnTo>
                    <a:pt x="2363494" y="2620914"/>
                  </a:lnTo>
                  <a:lnTo>
                    <a:pt x="0" y="2620914"/>
                  </a:lnTo>
                  <a:close/>
                </a:path>
              </a:pathLst>
            </a:custGeom>
            <a:solidFill>
              <a:srgbClr val="34343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63494" cy="265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36542" y="489453"/>
            <a:ext cx="8441024" cy="9308095"/>
          </a:xfrm>
          <a:custGeom>
            <a:avLst/>
            <a:gdLst/>
            <a:ahLst/>
            <a:cxnLst/>
            <a:rect r="r" b="b" t="t" l="l"/>
            <a:pathLst>
              <a:path h="9308095" w="8441024">
                <a:moveTo>
                  <a:pt x="0" y="0"/>
                </a:moveTo>
                <a:lnTo>
                  <a:pt x="8441025" y="0"/>
                </a:lnTo>
                <a:lnTo>
                  <a:pt x="8441025" y="9308094"/>
                </a:lnTo>
                <a:lnTo>
                  <a:pt x="0" y="9308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176" t="-23776" r="-8278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68262" y="2264475"/>
            <a:ext cx="6891038" cy="405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89"/>
              </a:lnSpc>
            </a:pPr>
            <a:r>
              <a:rPr lang="en-US" sz="1077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LENGUAJE</a:t>
            </a:r>
          </a:p>
          <a:p>
            <a:pPr algn="l">
              <a:lnSpc>
                <a:spcPts val="15089"/>
              </a:lnSpc>
            </a:pPr>
            <a:r>
              <a:rPr lang="en-US" sz="1077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8998528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25756" y="339069"/>
            <a:ext cx="3953381" cy="69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  <a:spcBef>
                <a:spcPct val="0"/>
              </a:spcBef>
            </a:pPr>
            <a:r>
              <a:rPr lang="en-US" b="true" sz="34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SQL: DEFINICIÓN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2447" y="1994392"/>
            <a:ext cx="13659552" cy="668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14"/>
              </a:lnSpc>
            </a:pP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PARA </a:t>
            </a: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INTERACTUAR</a:t>
            </a: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BBDD RELACIONALES</a:t>
            </a: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USAMOS EL </a:t>
            </a: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LENGUAJE SQL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SQL (STRUCTURED QUERY LANGUAGE) </a:t>
            </a: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SIGNIFICA, LITERALMENTE, LENGUAJE DE CONSULTA ESTRUCTURADO. ES DECIR: ES EL </a:t>
            </a: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LENGUAJE ESPECÍFICO</a:t>
            </a: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QUE UTILIZAREMOS PARA QUE NOS </a:t>
            </a:r>
            <a:r>
              <a:rPr lang="en-US" b="true" sz="34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RESPONDA A PREGUNTAS SOBRE NUESTROS DATOS</a:t>
            </a:r>
          </a:p>
          <a:p>
            <a:pPr algn="just">
              <a:lnSpc>
                <a:spcPts val="4814"/>
              </a:lnSpc>
              <a:spcBef>
                <a:spcPct val="0"/>
              </a:spcBef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27680" y="7086936"/>
            <a:ext cx="7212387" cy="245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161" indent="-274081" lvl="1">
              <a:lnSpc>
                <a:spcPts val="4976"/>
              </a:lnSpc>
              <a:buAutoNum type="arabicPeriod" startAt="1"/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SELECT  (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LEER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DATOS)</a:t>
            </a:r>
          </a:p>
          <a:p>
            <a:pPr algn="l" marL="548161" indent="-274081" lvl="1">
              <a:lnSpc>
                <a:spcPts val="4976"/>
              </a:lnSpc>
              <a:buAutoNum type="arabicPeriod" startAt="1"/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INSERT  (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CREAR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NUEVOS REGISTROS)</a:t>
            </a:r>
          </a:p>
          <a:p>
            <a:pPr algn="l" marL="548161" indent="-274081" lvl="1">
              <a:lnSpc>
                <a:spcPts val="4976"/>
              </a:lnSpc>
              <a:buAutoNum type="arabicPeriod" startAt="1"/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UPDATE  (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ACTUALIZAR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DATOS EXISTENTES)</a:t>
            </a:r>
          </a:p>
          <a:p>
            <a:pPr algn="l" marL="548161" indent="-274081" lvl="1">
              <a:lnSpc>
                <a:spcPts val="4976"/>
              </a:lnSpc>
              <a:buAutoNum type="arabicPeriod" startAt="1"/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DROP  (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ELIMINAR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DATOS)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94491" y="7269809"/>
            <a:ext cx="4125813" cy="2237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 SQL PODEMOS</a:t>
            </a:r>
          </a:p>
          <a:p>
            <a:pPr algn="l">
              <a:lnSpc>
                <a:spcPts val="4436"/>
              </a:lnSpc>
            </a:pP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HACER </a:t>
            </a:r>
          </a:p>
          <a:p>
            <a:pPr algn="l">
              <a:lnSpc>
                <a:spcPts val="4436"/>
              </a:lnSpc>
            </a:pP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(CLAUSULAS</a:t>
            </a:r>
          </a:p>
          <a:p>
            <a:pPr algn="l">
              <a:lnSpc>
                <a:spcPts val="4436"/>
              </a:lnSpc>
            </a:pPr>
            <a:r>
              <a:rPr lang="en-US" sz="34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ESENCIALES):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7534264" y="7688357"/>
            <a:ext cx="553276" cy="1428647"/>
          </a:xfrm>
          <a:custGeom>
            <a:avLst/>
            <a:gdLst/>
            <a:ahLst/>
            <a:cxnLst/>
            <a:rect r="r" b="b" t="t" l="l"/>
            <a:pathLst>
              <a:path h="1428647" w="553276">
                <a:moveTo>
                  <a:pt x="0" y="0"/>
                </a:moveTo>
                <a:lnTo>
                  <a:pt x="553276" y="0"/>
                </a:lnTo>
                <a:lnTo>
                  <a:pt x="553276" y="1428647"/>
                </a:lnTo>
                <a:lnTo>
                  <a:pt x="0" y="14286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8998528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24559" y="2530822"/>
            <a:ext cx="7589118" cy="2195200"/>
          </a:xfrm>
          <a:custGeom>
            <a:avLst/>
            <a:gdLst/>
            <a:ahLst/>
            <a:cxnLst/>
            <a:rect r="r" b="b" t="t" l="l"/>
            <a:pathLst>
              <a:path h="2195200" w="7589118">
                <a:moveTo>
                  <a:pt x="0" y="0"/>
                </a:moveTo>
                <a:lnTo>
                  <a:pt x="7589118" y="0"/>
                </a:lnTo>
                <a:lnTo>
                  <a:pt x="7589118" y="2195199"/>
                </a:lnTo>
                <a:lnTo>
                  <a:pt x="0" y="21951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424559" y="6636200"/>
            <a:ext cx="9727487" cy="581123"/>
          </a:xfrm>
          <a:custGeom>
            <a:avLst/>
            <a:gdLst/>
            <a:ahLst/>
            <a:cxnLst/>
            <a:rect r="r" b="b" t="t" l="l"/>
            <a:pathLst>
              <a:path h="581123" w="9727487">
                <a:moveTo>
                  <a:pt x="0" y="0"/>
                </a:moveTo>
                <a:lnTo>
                  <a:pt x="9727487" y="0"/>
                </a:lnTo>
                <a:lnTo>
                  <a:pt x="9727487" y="581123"/>
                </a:lnTo>
                <a:lnTo>
                  <a:pt x="0" y="5811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424559" y="8142597"/>
            <a:ext cx="1618854" cy="1394853"/>
          </a:xfrm>
          <a:custGeom>
            <a:avLst/>
            <a:gdLst/>
            <a:ahLst/>
            <a:cxnLst/>
            <a:rect r="r" b="b" t="t" l="l"/>
            <a:pathLst>
              <a:path h="1394853" w="1618854">
                <a:moveTo>
                  <a:pt x="0" y="0"/>
                </a:moveTo>
                <a:lnTo>
                  <a:pt x="1618854" y="0"/>
                </a:lnTo>
                <a:lnTo>
                  <a:pt x="1618854" y="1394853"/>
                </a:lnTo>
                <a:lnTo>
                  <a:pt x="0" y="1394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552" t="0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25756" y="339069"/>
            <a:ext cx="5299492" cy="69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  <a:spcBef>
                <a:spcPct val="0"/>
              </a:spcBef>
            </a:pPr>
            <a:r>
              <a:rPr lang="en-US" b="true" sz="34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SQL: EJEMPLO PRÁCTICO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24559" y="1777069"/>
            <a:ext cx="11176778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161" indent="-274081" lvl="1">
              <a:lnSpc>
                <a:spcPts val="4976"/>
              </a:lnSpc>
              <a:buAutoNum type="arabicPeriod" startAt="1"/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TENEMOS LA 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TABLA CITY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DENTRO DE LA 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BBDD WORLD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70383" y="5021296"/>
            <a:ext cx="12617354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 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CONSULTAMOS</a:t>
            </a: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2538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“QUIERO VER LAS CIUDADES CON POBLACIÓN MAYOR A 500K”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70383" y="5881136"/>
            <a:ext cx="12333962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 TRADUCIMOS LA 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CONSULTA A LENGUAJE SQL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70383" y="7378008"/>
            <a:ext cx="12333962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4. </a:t>
            </a:r>
            <a:r>
              <a:rPr lang="en-US" b="true" sz="2538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OBTEMOS LA RESPUESTA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8998528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10750" y="4820062"/>
            <a:ext cx="14309627" cy="854861"/>
          </a:xfrm>
          <a:custGeom>
            <a:avLst/>
            <a:gdLst/>
            <a:ahLst/>
            <a:cxnLst/>
            <a:rect r="r" b="b" t="t" l="l"/>
            <a:pathLst>
              <a:path h="854861" w="14309627">
                <a:moveTo>
                  <a:pt x="0" y="0"/>
                </a:moveTo>
                <a:lnTo>
                  <a:pt x="14309627" y="0"/>
                </a:lnTo>
                <a:lnTo>
                  <a:pt x="14309627" y="854861"/>
                </a:lnTo>
                <a:lnTo>
                  <a:pt x="0" y="854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0016605">
            <a:off x="3093148" y="3694749"/>
            <a:ext cx="489360" cy="1263605"/>
          </a:xfrm>
          <a:custGeom>
            <a:avLst/>
            <a:gdLst/>
            <a:ahLst/>
            <a:cxnLst/>
            <a:rect r="r" b="b" t="t" l="l"/>
            <a:pathLst>
              <a:path h="1263605" w="489360">
                <a:moveTo>
                  <a:pt x="0" y="0"/>
                </a:moveTo>
                <a:lnTo>
                  <a:pt x="489360" y="0"/>
                </a:lnTo>
                <a:lnTo>
                  <a:pt x="489360" y="1263605"/>
                </a:lnTo>
                <a:lnTo>
                  <a:pt x="0" y="1263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57258">
            <a:off x="4321216" y="5521384"/>
            <a:ext cx="435150" cy="1123626"/>
          </a:xfrm>
          <a:custGeom>
            <a:avLst/>
            <a:gdLst/>
            <a:ahLst/>
            <a:cxnLst/>
            <a:rect r="r" b="b" t="t" l="l"/>
            <a:pathLst>
              <a:path h="1123626" w="435150">
                <a:moveTo>
                  <a:pt x="0" y="0"/>
                </a:moveTo>
                <a:lnTo>
                  <a:pt x="435150" y="0"/>
                </a:lnTo>
                <a:lnTo>
                  <a:pt x="435150" y="1123626"/>
                </a:lnTo>
                <a:lnTo>
                  <a:pt x="0" y="112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737439">
            <a:off x="6091949" y="3833476"/>
            <a:ext cx="449171" cy="1159830"/>
          </a:xfrm>
          <a:custGeom>
            <a:avLst/>
            <a:gdLst/>
            <a:ahLst/>
            <a:cxnLst/>
            <a:rect r="r" b="b" t="t" l="l"/>
            <a:pathLst>
              <a:path h="1159830" w="449171">
                <a:moveTo>
                  <a:pt x="0" y="0"/>
                </a:moveTo>
                <a:lnTo>
                  <a:pt x="449171" y="0"/>
                </a:lnTo>
                <a:lnTo>
                  <a:pt x="449171" y="1159830"/>
                </a:lnTo>
                <a:lnTo>
                  <a:pt x="0" y="11598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05112" y="5481050"/>
            <a:ext cx="527850" cy="1362992"/>
          </a:xfrm>
          <a:custGeom>
            <a:avLst/>
            <a:gdLst/>
            <a:ahLst/>
            <a:cxnLst/>
            <a:rect r="r" b="b" t="t" l="l"/>
            <a:pathLst>
              <a:path h="1362992" w="527850">
                <a:moveTo>
                  <a:pt x="0" y="0"/>
                </a:moveTo>
                <a:lnTo>
                  <a:pt x="527850" y="0"/>
                </a:lnTo>
                <a:lnTo>
                  <a:pt x="527850" y="1362992"/>
                </a:lnTo>
                <a:lnTo>
                  <a:pt x="0" y="1362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611433">
            <a:off x="10258203" y="3640557"/>
            <a:ext cx="519490" cy="1341405"/>
          </a:xfrm>
          <a:custGeom>
            <a:avLst/>
            <a:gdLst/>
            <a:ahLst/>
            <a:cxnLst/>
            <a:rect r="r" b="b" t="t" l="l"/>
            <a:pathLst>
              <a:path h="1341405" w="519490">
                <a:moveTo>
                  <a:pt x="0" y="0"/>
                </a:moveTo>
                <a:lnTo>
                  <a:pt x="519490" y="0"/>
                </a:lnTo>
                <a:lnTo>
                  <a:pt x="519490" y="1341405"/>
                </a:lnTo>
                <a:lnTo>
                  <a:pt x="0" y="13414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3776014" y="3204302"/>
            <a:ext cx="505944" cy="5059440"/>
          </a:xfrm>
          <a:custGeom>
            <a:avLst/>
            <a:gdLst/>
            <a:ahLst/>
            <a:cxnLst/>
            <a:rect r="r" b="b" t="t" l="l"/>
            <a:pathLst>
              <a:path h="5059440" w="505944">
                <a:moveTo>
                  <a:pt x="0" y="0"/>
                </a:moveTo>
                <a:lnTo>
                  <a:pt x="505944" y="0"/>
                </a:lnTo>
                <a:lnTo>
                  <a:pt x="505944" y="5059440"/>
                </a:lnTo>
                <a:lnTo>
                  <a:pt x="0" y="50594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756" y="339069"/>
            <a:ext cx="7283235" cy="69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4"/>
              </a:lnSpc>
              <a:spcBef>
                <a:spcPct val="0"/>
              </a:spcBef>
            </a:pPr>
            <a:r>
              <a:rPr lang="en-US" b="true" sz="34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SQL: SINTAXIS SQL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0750" y="2901149"/>
            <a:ext cx="1096991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VERBO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07741" y="6832107"/>
            <a:ext cx="1709636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COLUMNA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61716" y="2901149"/>
            <a:ext cx="1709636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CLAUSULA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30555" y="6832107"/>
            <a:ext cx="1709636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TABLA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59255" y="2709354"/>
            <a:ext cx="1119236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FILTRO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49321" y="6120780"/>
            <a:ext cx="1709636" cy="56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6"/>
              </a:lnSpc>
            </a:pPr>
            <a:r>
              <a:rPr lang="en-US" sz="25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20377" y="8998528"/>
            <a:ext cx="1077845" cy="1077845"/>
          </a:xfrm>
          <a:custGeom>
            <a:avLst/>
            <a:gdLst/>
            <a:ahLst/>
            <a:cxnLst/>
            <a:rect r="r" b="b" t="t" l="l"/>
            <a:pathLst>
              <a:path h="1077845" w="1077845">
                <a:moveTo>
                  <a:pt x="0" y="0"/>
                </a:moveTo>
                <a:lnTo>
                  <a:pt x="1077846" y="0"/>
                </a:lnTo>
                <a:lnTo>
                  <a:pt x="1077846" y="1077845"/>
                </a:lnTo>
                <a:lnTo>
                  <a:pt x="0" y="1077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44162" y="1323154"/>
            <a:ext cx="11999675" cy="8484145"/>
          </a:xfrm>
          <a:custGeom>
            <a:avLst/>
            <a:gdLst/>
            <a:ahLst/>
            <a:cxnLst/>
            <a:rect r="r" b="b" t="t" l="l"/>
            <a:pathLst>
              <a:path h="8484145" w="11999675">
                <a:moveTo>
                  <a:pt x="0" y="0"/>
                </a:moveTo>
                <a:lnTo>
                  <a:pt x="11999676" y="0"/>
                </a:lnTo>
                <a:lnTo>
                  <a:pt x="11999676" y="8484145"/>
                </a:lnTo>
                <a:lnTo>
                  <a:pt x="0" y="8484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5756" y="339069"/>
            <a:ext cx="3953381" cy="693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4"/>
              </a:lnSpc>
              <a:spcBef>
                <a:spcPct val="0"/>
              </a:spcBef>
            </a:pPr>
            <a:r>
              <a:rPr lang="en-US" b="true" sz="3438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SQL: CHEAT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DAGzpuuAQuI</dc:identifier>
  <dcterms:modified xsi:type="dcterms:W3CDTF">2011-08-01T06:04:30Z</dcterms:modified>
  <cp:revision>1</cp:revision>
  <dc:title>sql lenguaje</dc:title>
</cp:coreProperties>
</file>